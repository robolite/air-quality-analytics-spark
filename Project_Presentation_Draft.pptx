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5156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AIR QUALITY ANALYTICS</a:t>
            </a:r>
          </a:p>
          <a:p>
            <a:pPr>
              <a:defRPr sz="2800">
                <a:solidFill>
                  <a:srgbClr val="DCEBF8"/>
                </a:solidFill>
              </a:defRPr>
            </a:pPr>
            <a:r>
              <a:t>Using Apache Spark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Big Data — Continuous Assessment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48006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Submitted to: Dr. Mamta Arora  |  Student: [Name and Roll Number]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Arial"/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28303A"/>
                </a:solidFill>
                <a:latin typeface="Arial"/>
              </a:defRPr>
            </a:pPr>
            <a:r>
              <a:t>Domain: environmental data analytics and air-quality monitoring</a:t>
            </a:r>
          </a:p>
          <a:p>
            <a:pPr>
              <a:spcAft>
                <a:spcPts val="1600"/>
              </a:spcAft>
              <a:defRPr sz="2100">
                <a:solidFill>
                  <a:srgbClr val="28303A"/>
                </a:solidFill>
                <a:latin typeface="Arial"/>
              </a:defRPr>
            </a:pPr>
            <a:r>
              <a:t>Use historical hourly measurements to study pollutant patterns</a:t>
            </a:r>
          </a:p>
          <a:p>
            <a:pPr>
              <a:spcAft>
                <a:spcPts val="1600"/>
              </a:spcAft>
              <a:defRPr sz="2100">
                <a:solidFill>
                  <a:srgbClr val="28303A"/>
                </a:solidFill>
                <a:latin typeface="Arial"/>
              </a:defRPr>
            </a:pPr>
            <a:r>
              <a:t>Stakeholders: researchers, environmental analysts, and public planners</a:t>
            </a:r>
          </a:p>
          <a:p>
            <a:pPr>
              <a:spcAft>
                <a:spcPts val="1600"/>
              </a:spcAft>
              <a:defRPr sz="2100">
                <a:solidFill>
                  <a:srgbClr val="28303A"/>
                </a:solidFill>
                <a:latin typeface="Arial"/>
              </a:defRPr>
            </a:pPr>
            <a:r>
              <a:t>Output: cleaned data, summary tables, time-based analyses, and charts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Arial"/>
              </a:defRPr>
            </a:pPr>
            <a:r>
              <a:t>Problem Statement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28303A"/>
                </a:solidFill>
                <a:latin typeface="Arial"/>
              </a:defRPr>
            </a:pPr>
            <a:r>
              <a:t>Raw sensor datasets may contain missing sentinels, inconsistent numeric formats, and duplicate records</a:t>
            </a:r>
          </a:p>
          <a:p>
            <a:pPr>
              <a:spcAft>
                <a:spcPts val="1600"/>
              </a:spcAft>
              <a:defRPr sz="2100">
                <a:solidFill>
                  <a:srgbClr val="28303A"/>
                </a:solidFill>
                <a:latin typeface="Arial"/>
              </a:defRPr>
            </a:pPr>
            <a:r>
              <a:t>Aim: build a reproducible PySpark cleaning and analytics pipeline</a:t>
            </a:r>
          </a:p>
          <a:p>
            <a:pPr>
              <a:spcAft>
                <a:spcPts val="1600"/>
              </a:spcAft>
              <a:defRPr sz="2100">
                <a:solidFill>
                  <a:srgbClr val="28303A"/>
                </a:solidFill>
                <a:latin typeface="Arial"/>
              </a:defRPr>
            </a:pPr>
            <a:r>
              <a:t>Clean and transform numeric and time fields</a:t>
            </a:r>
          </a:p>
          <a:p>
            <a:pPr>
              <a:spcAft>
                <a:spcPts val="1600"/>
              </a:spcAft>
              <a:defRPr sz="2100">
                <a:solidFill>
                  <a:srgbClr val="28303A"/>
                </a:solidFill>
                <a:latin typeface="Arial"/>
              </a:defRPr>
            </a:pPr>
            <a:r>
              <a:t>Aggregate pollutant measurements and compare hourly/monthly patterns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Arial"/>
              </a:defRPr>
            </a:pPr>
            <a:r>
              <a:t>Dataset &amp; Data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28303A"/>
                </a:solidFill>
                <a:latin typeface="Arial"/>
              </a:defRPr>
            </a:pPr>
            <a:r>
              <a:t>UCI Machine Learning Repository: Air Quality (Dataset ID 360)</a:t>
            </a:r>
          </a:p>
          <a:p>
            <a:pPr>
              <a:spcAft>
                <a:spcPts val="1600"/>
              </a:spcAft>
              <a:defRPr sz="2100">
                <a:solidFill>
                  <a:srgbClr val="28303A"/>
                </a:solidFill>
                <a:latin typeface="Arial"/>
              </a:defRPr>
            </a:pPr>
            <a:r>
              <a:t>9,358 hourly records; 15 attributes, according to the repository</a:t>
            </a:r>
          </a:p>
          <a:p>
            <a:pPr>
              <a:spcAft>
                <a:spcPts val="1600"/>
              </a:spcAft>
              <a:defRPr sz="2100">
                <a:solidFill>
                  <a:srgbClr val="28303A"/>
                </a:solidFill>
                <a:latin typeface="Arial"/>
              </a:defRPr>
            </a:pPr>
            <a:r>
              <a:t>Collected in an Italian city from March 2004 to February 2005</a:t>
            </a:r>
          </a:p>
          <a:p>
            <a:pPr>
              <a:spcAft>
                <a:spcPts val="1600"/>
              </a:spcAft>
              <a:defRPr sz="2100">
                <a:solidFill>
                  <a:srgbClr val="28303A"/>
                </a:solidFill>
                <a:latin typeface="Arial"/>
              </a:defRPr>
            </a:pPr>
            <a:r>
              <a:t>Missing numeric measurements are encoded as -200</a:t>
            </a:r>
          </a:p>
          <a:p>
            <a:pPr>
              <a:spcAft>
                <a:spcPts val="1600"/>
              </a:spcAft>
              <a:defRPr sz="2100">
                <a:solidFill>
                  <a:srgbClr val="28303A"/>
                </a:solidFill>
                <a:latin typeface="Arial"/>
              </a:defRPr>
            </a:pPr>
            <a:r>
              <a:t>DOI: 10.24432/C59K5F | Research use; cite the source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Arial"/>
              </a:defRPr>
            </a:pPr>
            <a:r>
              <a:t>Why Big Data Concepts?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28303A"/>
                </a:solidFill>
                <a:latin typeface="Arial"/>
              </a:defRPr>
            </a:pPr>
            <a:r>
              <a:t>Variety: multiple pollutants, sensor responses, and weather-related variables</a:t>
            </a:r>
          </a:p>
          <a:p>
            <a:pPr>
              <a:spcAft>
                <a:spcPts val="1600"/>
              </a:spcAft>
              <a:defRPr sz="2100">
                <a:solidFill>
                  <a:srgbClr val="28303A"/>
                </a:solidFill>
                <a:latin typeface="Arial"/>
              </a:defRPr>
            </a:pPr>
            <a:r>
              <a:t>Velocity: the source data represents hourly monitoring observations</a:t>
            </a:r>
          </a:p>
          <a:p>
            <a:pPr>
              <a:spcAft>
                <a:spcPts val="1600"/>
              </a:spcAft>
              <a:defRPr sz="2100">
                <a:solidFill>
                  <a:srgbClr val="28303A"/>
                </a:solidFill>
                <a:latin typeface="Arial"/>
              </a:defRPr>
            </a:pPr>
            <a:r>
              <a:t>Veracity: missing-value sentinels and sensor-related limitations require care</a:t>
            </a:r>
          </a:p>
          <a:p>
            <a:pPr>
              <a:spcAft>
                <a:spcPts val="1600"/>
              </a:spcAft>
              <a:defRPr sz="2100">
                <a:solidFill>
                  <a:srgbClr val="28303A"/>
                </a:solidFill>
                <a:latin typeface="Arial"/>
              </a:defRPr>
            </a:pPr>
            <a:r>
              <a:t>Value: time-based summaries help identify patterns in historical observations</a:t>
            </a:r>
          </a:p>
          <a:p>
            <a:pPr>
              <a:spcAft>
                <a:spcPts val="1600"/>
              </a:spcAft>
              <a:defRPr sz="2100">
                <a:solidFill>
                  <a:srgbClr val="28303A"/>
                </a:solidFill>
                <a:latin typeface="Arial"/>
              </a:defRPr>
            </a:pPr>
            <a:r>
              <a:t>Honesty: ~9k rows are not massive; this is a local Spark prototype, not a cluster benchmark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Arial"/>
              </a:defRPr>
            </a:pPr>
            <a:r>
              <a:t>Tools &amp;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28303A"/>
                </a:solidFill>
                <a:latin typeface="Arial"/>
              </a:defRPr>
            </a:pPr>
            <a:r>
              <a:t>Python — pipeline orchestration</a:t>
            </a:r>
          </a:p>
          <a:p>
            <a:pPr>
              <a:spcAft>
                <a:spcPts val="1600"/>
              </a:spcAft>
              <a:defRPr sz="2100">
                <a:solidFill>
                  <a:srgbClr val="28303A"/>
                </a:solidFill>
                <a:latin typeface="Arial"/>
              </a:defRPr>
            </a:pPr>
            <a:r>
              <a:t>Apache Spark / PySpark — DataFrame cleaning, transformations, and aggregations</a:t>
            </a:r>
          </a:p>
          <a:p>
            <a:pPr>
              <a:spcAft>
                <a:spcPts val="1600"/>
              </a:spcAft>
              <a:defRPr sz="2100">
                <a:solidFill>
                  <a:srgbClr val="28303A"/>
                </a:solidFill>
                <a:latin typeface="Arial"/>
              </a:defRPr>
            </a:pPr>
            <a:r>
              <a:t>Pandas — handling compact aggregation outputs</a:t>
            </a:r>
          </a:p>
          <a:p>
            <a:pPr>
              <a:spcAft>
                <a:spcPts val="1600"/>
              </a:spcAft>
              <a:defRPr sz="2100">
                <a:solidFill>
                  <a:srgbClr val="28303A"/>
                </a:solidFill>
                <a:latin typeface="Arial"/>
              </a:defRPr>
            </a:pPr>
            <a:r>
              <a:t>Matplotlib — charts</a:t>
            </a:r>
          </a:p>
          <a:p>
            <a:pPr>
              <a:spcAft>
                <a:spcPts val="1600"/>
              </a:spcAft>
              <a:defRPr sz="2100">
                <a:solidFill>
                  <a:srgbClr val="28303A"/>
                </a:solidFill>
                <a:latin typeface="Arial"/>
              </a:defRPr>
            </a:pPr>
            <a:r>
              <a:t>Local execution mode: local[*]; no multi-node cluster claimed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Arial"/>
              </a:defRPr>
            </a:pPr>
            <a:r>
              <a:t>Methodology &amp;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28303A"/>
                </a:solidFill>
                <a:latin typeface="Arial"/>
              </a:defRPr>
            </a:pPr>
            <a:r>
              <a:t>UCI CSV → Spark ingestion → normalize numeric fields</a:t>
            </a:r>
          </a:p>
          <a:p>
            <a:pPr>
              <a:spcAft>
                <a:spcPts val="1600"/>
              </a:spcAft>
              <a:defRPr sz="2100">
                <a:solidFill>
                  <a:srgbClr val="28303A"/>
                </a:solidFill>
                <a:latin typeface="Arial"/>
              </a:defRPr>
            </a:pPr>
            <a:r>
              <a:t>Replace -200 with null; parse date/time and derive hour/month</a:t>
            </a:r>
          </a:p>
          <a:p>
            <a:pPr>
              <a:spcAft>
                <a:spcPts val="1600"/>
              </a:spcAft>
              <a:defRPr sz="2100">
                <a:solidFill>
                  <a:srgbClr val="28303A"/>
                </a:solidFill>
                <a:latin typeface="Arial"/>
              </a:defRPr>
            </a:pPr>
            <a:r>
              <a:t>Remove duplicate rows and compute pollutant summaries</a:t>
            </a:r>
          </a:p>
          <a:p>
            <a:pPr>
              <a:spcAft>
                <a:spcPts val="1600"/>
              </a:spcAft>
              <a:defRPr sz="2100">
                <a:solidFill>
                  <a:srgbClr val="28303A"/>
                </a:solidFill>
                <a:latin typeface="Arial"/>
              </a:defRPr>
            </a:pPr>
            <a:r>
              <a:t>Group measurements by hour and month</a:t>
            </a:r>
          </a:p>
          <a:p>
            <a:pPr>
              <a:spcAft>
                <a:spcPts val="1600"/>
              </a:spcAft>
              <a:defRPr sz="2100">
                <a:solidFill>
                  <a:srgbClr val="28303A"/>
                </a:solidFill>
                <a:latin typeface="Arial"/>
              </a:defRPr>
            </a:pPr>
            <a:r>
              <a:t>Export cleaned data, CSV summaries, PNG charts, and run summary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Arial"/>
              </a:defRPr>
            </a:pPr>
            <a:r>
              <a:t>Implementation &amp;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28303A"/>
                </a:solidFill>
                <a:latin typeface="Arial"/>
              </a:defRPr>
            </a:pPr>
            <a:r>
              <a:t>Place AirQualityUCI.csv in the data folder</a:t>
            </a:r>
          </a:p>
          <a:p>
            <a:pPr>
              <a:spcAft>
                <a:spcPts val="1600"/>
              </a:spcAft>
              <a:defRPr sz="2100">
                <a:solidFill>
                  <a:srgbClr val="28303A"/>
                </a:solidFill>
                <a:latin typeface="Arial"/>
              </a:defRPr>
            </a:pPr>
            <a:r>
              <a:t>Install: pip install pyspark pandas matplotlib openpyxl</a:t>
            </a:r>
          </a:p>
          <a:p>
            <a:pPr>
              <a:spcAft>
                <a:spcPts val="1600"/>
              </a:spcAft>
              <a:defRPr sz="2100">
                <a:solidFill>
                  <a:srgbClr val="28303A"/>
                </a:solidFill>
                <a:latin typeface="Arial"/>
              </a:defRPr>
            </a:pPr>
            <a:r>
              <a:t>Run: python run_analysis.py</a:t>
            </a:r>
          </a:p>
          <a:p>
            <a:pPr>
              <a:spcAft>
                <a:spcPts val="1600"/>
              </a:spcAft>
              <a:defRPr sz="2100">
                <a:solidFill>
                  <a:srgbClr val="28303A"/>
                </a:solidFill>
                <a:latin typeface="Arial"/>
              </a:defRPr>
            </a:pPr>
            <a:r>
              <a:t>Show terminal output and files created in outputs/</a:t>
            </a:r>
          </a:p>
          <a:p>
            <a:pPr>
              <a:spcAft>
                <a:spcPts val="1600"/>
              </a:spcAft>
              <a:defRPr sz="2100">
                <a:solidFill>
                  <a:srgbClr val="28303A"/>
                </a:solidFill>
                <a:latin typeface="Arial"/>
              </a:defRPr>
            </a:pPr>
            <a:r>
              <a:t>Insert a screenshot of successful execution before presenting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Arial"/>
              </a:defRPr>
            </a:pPr>
            <a:r>
              <a:t>Results &amp;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28303A"/>
                </a:solidFill>
                <a:latin typeface="Arial"/>
              </a:defRPr>
            </a:pPr>
            <a:r>
              <a:t>Insert pollutant_averages.png and hourly_co_pattern.png after running the script</a:t>
            </a:r>
          </a:p>
          <a:p>
            <a:pPr>
              <a:spcAft>
                <a:spcPts val="1600"/>
              </a:spcAft>
              <a:defRPr sz="2100">
                <a:solidFill>
                  <a:srgbClr val="28303A"/>
                </a:solidFill>
                <a:latin typeface="Arial"/>
              </a:defRPr>
            </a:pPr>
            <a:r>
              <a:t>Use hourly_pattern.csv and monthly_pattern.csv to identify observed peaks and troughs</a:t>
            </a:r>
          </a:p>
          <a:p>
            <a:pPr>
              <a:spcAft>
                <a:spcPts val="1600"/>
              </a:spcAft>
              <a:defRPr sz="2100">
                <a:solidFill>
                  <a:srgbClr val="28303A"/>
                </a:solidFill>
                <a:latin typeface="Arial"/>
              </a:defRPr>
            </a:pPr>
            <a:r>
              <a:t>Report actual row counts and missing-value counts from run_summary.txt and pollutant_summary.csv</a:t>
            </a:r>
          </a:p>
          <a:p>
            <a:pPr>
              <a:spcAft>
                <a:spcPts val="1600"/>
              </a:spcAft>
              <a:defRPr sz="2100">
                <a:solidFill>
                  <a:srgbClr val="28303A"/>
                </a:solidFill>
                <a:latin typeface="Arial"/>
              </a:defRPr>
            </a:pPr>
            <a:r>
              <a:t>Do not claim results until the code has been run; patterns are observational, not causal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Arial"/>
              </a:defRPr>
            </a:pPr>
            <a:r>
              <a:t>Limitations, Conclusion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28303A"/>
                </a:solidFill>
                <a:latin typeface="Arial"/>
              </a:defRPr>
            </a:pPr>
            <a:r>
              <a:t>Historical data from one location; not representative of current global conditions</a:t>
            </a:r>
          </a:p>
          <a:p>
            <a:pPr>
              <a:spcAft>
                <a:spcPts val="1600"/>
              </a:spcAft>
              <a:defRPr sz="2100">
                <a:solidFill>
                  <a:srgbClr val="28303A"/>
                </a:solidFill>
                <a:latin typeface="Arial"/>
              </a:defRPr>
            </a:pPr>
            <a:r>
              <a:t>Sensor drift/cross-sensitivity may affect interpretation</a:t>
            </a:r>
          </a:p>
          <a:p>
            <a:pPr>
              <a:spcAft>
                <a:spcPts val="1600"/>
              </a:spcAft>
              <a:defRPr sz="2100">
                <a:solidFill>
                  <a:srgbClr val="28303A"/>
                </a:solidFill>
                <a:latin typeface="Arial"/>
              </a:defRPr>
            </a:pPr>
            <a:r>
              <a:t>Local Spark execution demonstrates APIs, not distributed-cluster performance</a:t>
            </a:r>
          </a:p>
          <a:p>
            <a:pPr>
              <a:spcAft>
                <a:spcPts val="1600"/>
              </a:spcAft>
              <a:defRPr sz="2100">
                <a:solidFill>
                  <a:srgbClr val="28303A"/>
                </a:solidFill>
                <a:latin typeface="Arial"/>
              </a:defRPr>
            </a:pPr>
            <a:r>
              <a:t>Future: multi-city OpenAQ archive, Parquet partitioning, dashboards, and cluster execution</a:t>
            </a:r>
          </a:p>
          <a:p>
            <a:pPr>
              <a:spcAft>
                <a:spcPts val="1600"/>
              </a:spcAft>
              <a:defRPr sz="2100">
                <a:solidFill>
                  <a:srgbClr val="28303A"/>
                </a:solidFill>
                <a:latin typeface="Arial"/>
              </a:defRPr>
            </a:pPr>
            <a:r>
              <a:t>Thank you —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